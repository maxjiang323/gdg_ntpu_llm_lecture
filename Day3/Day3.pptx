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8" r:id="rId5"/>
    <p:sldId id="299" r:id="rId6"/>
    <p:sldId id="301" r:id="rId7"/>
    <p:sldId id="302" r:id="rId8"/>
    <p:sldId id="304" r:id="rId9"/>
    <p:sldId id="303" r:id="rId10"/>
    <p:sldId id="260" r:id="rId11"/>
    <p:sldId id="261" r:id="rId12"/>
    <p:sldId id="263" r:id="rId13"/>
    <p:sldId id="297" r:id="rId14"/>
    <p:sldId id="262" r:id="rId15"/>
    <p:sldId id="30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4BF89D-DB6C-00C6-6A01-2FDE77190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C284857-BDF0-3F4B-BC55-3AEED3AEF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157C92-45CE-EA14-5B54-9B96098C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F8483F-2561-461C-E493-D7FB6E69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3F1266-CD66-3B91-E698-4C8A5E63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6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2F2825-B7AB-BFD6-B264-2B490D1F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2FD821-13A8-CC19-B6B7-F3EE8D967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F4BB15-77A6-8C9C-5DA0-20D4BB89A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B82228-ACCC-AFAA-CA36-EDCB7C6A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77BBC6-24BF-04B8-302A-48C942B0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607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3B8E8F-1431-0D0E-8FDE-28E5B98F1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6E7424-D075-8F97-92FB-5F3BA128E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22C779-F938-EB5D-8052-0A49687B3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EE29B3-3B1E-6714-B11B-9E417B832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A62E8F-7EDE-C9E9-8B78-E64CCD648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87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A50C97-694E-CA16-F42D-72AD03B6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F15FE5-60B2-1B98-854F-D649BA135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34CAE9-48C4-00DB-0928-27FCABDAD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8E1D82-DBCF-F44F-ED2A-74213D10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2AA2E1E-BDB8-DD65-2782-301B43B4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31A756-5FD2-A18D-1AED-796C3A41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45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147C41-D362-A23E-5ADB-D3FB488F5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89D831-218D-2026-7791-2F6244D14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4FF1D7-4D88-1B20-171C-6D19E112C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FE711DA-218F-0436-47F8-456DBE0AC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F05E259-CBAE-50A2-7348-A25DFDCE3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425B0A9-AC34-E107-189A-90E804DA2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FB7F4B7-8A22-EA8E-4FC1-082252E5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C28E9BE-6415-1F33-59C4-E76B2434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3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872FFB-C608-5037-9D8E-CDABFF30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6804D9C-FE90-BFE6-9CDB-FB77EA00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4F52B51-B7DB-09EA-E0DF-58EA9ADD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FBFF2F-2D3A-73EF-3B52-8771FE2C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443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87D3392-039C-35E8-F5A1-2328FF81F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1B80F25-20CD-EC79-8BB1-96BCBB89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82CD69-C737-07FD-0E9C-85DD9A9A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29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B76D73-EA87-2202-6514-3FE7274DD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58B36F-D23F-EC87-9536-2D651A3A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13B930-5F77-29A3-DB57-5A428034F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5A7DB5-338E-D226-BE76-456D27A0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9F3125-8961-0D18-FCBE-DFCDC64D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D9B759-8023-44F0-E267-F115E61A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466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99685-F84D-8EDC-C55C-0A92B5A1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0EFC9DE-15D6-9E76-833D-86B721B0A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A640B57-4FC5-20F4-F3AE-68566B975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266BDA-6E9E-BD58-B9CC-2ACFA944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824D7D-EC08-1C3A-38C7-24C6FE05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CA26A6-8375-930B-F642-6FB4D3F0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012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952F99-DB2D-DFDD-FE2A-7D029B6F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4A847C-807E-4DEF-25EC-F1E31A5CF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5E3FF0-1C19-1954-70B0-2F75A463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75CE5A-8CAF-BB29-2CEE-CA27332C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149B64-51DC-CE46-A427-680F0E04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234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2579E0A-1CEA-081C-33B6-F0DB91B36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E2E9B96-46C8-541A-EC1A-5FEA7953C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F66311-6AE7-5D91-6759-89322532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10BF36-87BA-16BA-E4F9-82118437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BA803B-10BA-D182-726F-802AAB71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78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05BF46-AC63-7072-143A-E1D30770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0EB7A2-2534-D1A4-5AF0-012076638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B9FBF9-C599-F1BB-45E3-3E36B7816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64CA7-0CEF-499B-B9E9-84DBEC3A2B3C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9FA1CB-2CE4-B64D-73CC-407583DA1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7E54DA-E040-D2FB-E29B-D392E457A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C2F07-BDBE-4D98-9AF0-3F16D3148A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72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oloclub.github.io/transformer-explainer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ebastianraschka.com/llm-architecture-gallery/" TargetMode="External"/><Relationship Id="rId2" Type="http://schemas.openxmlformats.org/officeDocument/2006/relationships/hyperlink" Target="https://bbycroft.net/ll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2529C5-29CC-1773-151B-F3055EABE6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Transformer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架構及實作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52BAB7F-46A5-5C48-CE89-E76338F35C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838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8FFF67E-1DAB-A77C-1625-C1B94C10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Transformer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零件</a:t>
            </a:r>
          </a:p>
        </p:txBody>
      </p:sp>
      <p:sp>
        <p:nvSpPr>
          <p:cNvPr id="29" name="Content Placeholder 8">
            <a:extLst>
              <a:ext uri="{FF2B5EF4-FFF2-40B4-BE49-F238E27FC236}">
                <a16:creationId xmlns:a16="http://schemas.microsoft.com/office/drawing/2014/main" id="{47ABDEF3-F3A9-A4EE-533B-A009327AA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Positional Encoding</a:t>
            </a:r>
          </a:p>
          <a:p>
            <a:endParaRPr lang="en-US" sz="2000" dirty="0"/>
          </a:p>
          <a:p>
            <a:r>
              <a:rPr lang="en-US" sz="2000" dirty="0"/>
              <a:t>Multi-Head Attention</a:t>
            </a:r>
          </a:p>
          <a:p>
            <a:endParaRPr lang="en-US" sz="2000" dirty="0"/>
          </a:p>
          <a:p>
            <a:r>
              <a:rPr lang="en-US" sz="2000" dirty="0"/>
              <a:t>Normalization</a:t>
            </a:r>
          </a:p>
          <a:p>
            <a:endParaRPr lang="en-US" sz="2000" dirty="0"/>
          </a:p>
          <a:p>
            <a:r>
              <a:rPr lang="en-US" sz="2000" dirty="0"/>
              <a:t>Residual Network</a:t>
            </a:r>
          </a:p>
          <a:p>
            <a:endParaRPr lang="en-US" sz="2000" dirty="0"/>
          </a:p>
          <a:p>
            <a:r>
              <a:rPr lang="en-US" sz="2000" dirty="0"/>
              <a:t>Feed Forward</a:t>
            </a:r>
          </a:p>
        </p:txBody>
      </p:sp>
      <p:pic>
        <p:nvPicPr>
          <p:cNvPr id="5" name="內容版面配置區 4" descr="一張含有 文字, 圖表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C052E905-97CF-1038-B8CF-0E0F26ED9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8" r="-2" b="-2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28927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9A3E60-8C52-7187-0C41-A09419B3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位置編碼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(Positional Encoding)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9A33F69-05B9-F4B7-BB83-CAE8402AD183}"/>
              </a:ext>
            </a:extLst>
          </p:cNvPr>
          <p:cNvSpPr/>
          <p:nvPr/>
        </p:nvSpPr>
        <p:spPr>
          <a:xfrm>
            <a:off x="948262" y="2216680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DC25972-FD16-4E51-1F34-D7218ECCCF7D}"/>
              </a:ext>
            </a:extLst>
          </p:cNvPr>
          <p:cNvSpPr/>
          <p:nvPr/>
        </p:nvSpPr>
        <p:spPr>
          <a:xfrm>
            <a:off x="2688162" y="2216680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愛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E772778-9F8F-416A-B70F-132EF5A3A473}"/>
              </a:ext>
            </a:extLst>
          </p:cNvPr>
          <p:cNvSpPr/>
          <p:nvPr/>
        </p:nvSpPr>
        <p:spPr>
          <a:xfrm>
            <a:off x="4428062" y="2216679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A9F6FF-DC84-B463-C598-B1EF9EC38191}"/>
              </a:ext>
            </a:extLst>
          </p:cNvPr>
          <p:cNvSpPr/>
          <p:nvPr/>
        </p:nvSpPr>
        <p:spPr>
          <a:xfrm>
            <a:off x="948262" y="4341813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BD3E8F0-2B9C-61B9-AF74-D54CFF269323}"/>
              </a:ext>
            </a:extLst>
          </p:cNvPr>
          <p:cNvSpPr/>
          <p:nvPr/>
        </p:nvSpPr>
        <p:spPr>
          <a:xfrm>
            <a:off x="2688162" y="4341813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愛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6C579A8-E164-57D8-7C63-8217C43CB8DA}"/>
              </a:ext>
            </a:extLst>
          </p:cNvPr>
          <p:cNvSpPr/>
          <p:nvPr/>
        </p:nvSpPr>
        <p:spPr>
          <a:xfrm>
            <a:off x="4428062" y="4341812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</a:t>
            </a:r>
          </a:p>
        </p:txBody>
      </p: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FFDA3DB6-D46A-B433-2786-EC2D24A59847}"/>
              </a:ext>
            </a:extLst>
          </p:cNvPr>
          <p:cNvCxnSpPr>
            <a:stCxn id="5" idx="2"/>
            <a:endCxn id="6" idx="2"/>
          </p:cNvCxnSpPr>
          <p:nvPr/>
        </p:nvCxnSpPr>
        <p:spPr>
          <a:xfrm rot="16200000" flipH="1">
            <a:off x="2406646" y="2369060"/>
            <a:ext cx="12700" cy="173990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接點: 弧形 17">
            <a:extLst>
              <a:ext uri="{FF2B5EF4-FFF2-40B4-BE49-F238E27FC236}">
                <a16:creationId xmlns:a16="http://schemas.microsoft.com/office/drawing/2014/main" id="{9E890570-DFEC-5578-C8B3-26069A89105A}"/>
              </a:ext>
            </a:extLst>
          </p:cNvPr>
          <p:cNvCxnSpPr>
            <a:stCxn id="5" idx="2"/>
            <a:endCxn id="7" idx="2"/>
          </p:cNvCxnSpPr>
          <p:nvPr/>
        </p:nvCxnSpPr>
        <p:spPr>
          <a:xfrm rot="5400000" flipH="1" flipV="1">
            <a:off x="3276595" y="1499110"/>
            <a:ext cx="1" cy="34798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37DEED8A-2B0B-C967-2960-6A5124738049}"/>
              </a:ext>
            </a:extLst>
          </p:cNvPr>
          <p:cNvCxnSpPr>
            <a:stCxn id="6" idx="2"/>
            <a:endCxn id="7" idx="2"/>
          </p:cNvCxnSpPr>
          <p:nvPr/>
        </p:nvCxnSpPr>
        <p:spPr>
          <a:xfrm rot="5400000" flipH="1" flipV="1">
            <a:off x="4146545" y="2369060"/>
            <a:ext cx="1" cy="17399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接點: 弧形 21">
            <a:extLst>
              <a:ext uri="{FF2B5EF4-FFF2-40B4-BE49-F238E27FC236}">
                <a16:creationId xmlns:a16="http://schemas.microsoft.com/office/drawing/2014/main" id="{9F8CA624-A2E9-F30B-9642-27A6E3A6C5A5}"/>
              </a:ext>
            </a:extLst>
          </p:cNvPr>
          <p:cNvCxnSpPr>
            <a:stCxn id="8" idx="2"/>
            <a:endCxn id="9" idx="2"/>
          </p:cNvCxnSpPr>
          <p:nvPr/>
        </p:nvCxnSpPr>
        <p:spPr>
          <a:xfrm rot="16200000" flipH="1">
            <a:off x="2406646" y="4494193"/>
            <a:ext cx="12700" cy="173990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接點: 弧形 23">
            <a:extLst>
              <a:ext uri="{FF2B5EF4-FFF2-40B4-BE49-F238E27FC236}">
                <a16:creationId xmlns:a16="http://schemas.microsoft.com/office/drawing/2014/main" id="{B9D49D9B-2CEC-F7D1-F072-C4CA2279D453}"/>
              </a:ext>
            </a:extLst>
          </p:cNvPr>
          <p:cNvCxnSpPr>
            <a:stCxn id="8" idx="2"/>
            <a:endCxn id="10" idx="2"/>
          </p:cNvCxnSpPr>
          <p:nvPr/>
        </p:nvCxnSpPr>
        <p:spPr>
          <a:xfrm rot="5400000" flipH="1" flipV="1">
            <a:off x="3276595" y="3624243"/>
            <a:ext cx="1" cy="34798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接點: 弧形 25">
            <a:extLst>
              <a:ext uri="{FF2B5EF4-FFF2-40B4-BE49-F238E27FC236}">
                <a16:creationId xmlns:a16="http://schemas.microsoft.com/office/drawing/2014/main" id="{81F60529-485D-DCEA-3FDF-6212CB212DFA}"/>
              </a:ext>
            </a:extLst>
          </p:cNvPr>
          <p:cNvCxnSpPr>
            <a:stCxn id="9" idx="2"/>
            <a:endCxn id="10" idx="2"/>
          </p:cNvCxnSpPr>
          <p:nvPr/>
        </p:nvCxnSpPr>
        <p:spPr>
          <a:xfrm rot="5400000" flipH="1" flipV="1">
            <a:off x="4146545" y="4494193"/>
            <a:ext cx="1" cy="17399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466D3C2-7E27-130B-4788-EB47BBBA0A3E}"/>
              </a:ext>
            </a:extLst>
          </p:cNvPr>
          <p:cNvSpPr/>
          <p:nvPr/>
        </p:nvSpPr>
        <p:spPr>
          <a:xfrm>
            <a:off x="6561679" y="2216680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58AFFC4-50DB-8D4F-3DCC-DE1AAEAC43F5}"/>
              </a:ext>
            </a:extLst>
          </p:cNvPr>
          <p:cNvSpPr/>
          <p:nvPr/>
        </p:nvSpPr>
        <p:spPr>
          <a:xfrm>
            <a:off x="8301579" y="2216680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追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7EB94CF-9C3A-B513-0DC8-FB09289D11ED}"/>
              </a:ext>
            </a:extLst>
          </p:cNvPr>
          <p:cNvSpPr/>
          <p:nvPr/>
        </p:nvSpPr>
        <p:spPr>
          <a:xfrm>
            <a:off x="10041479" y="2216679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狗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8CB420B-A574-DA62-3CDF-399897293DBE}"/>
              </a:ext>
            </a:extLst>
          </p:cNvPr>
          <p:cNvSpPr/>
          <p:nvPr/>
        </p:nvSpPr>
        <p:spPr>
          <a:xfrm>
            <a:off x="6561679" y="4341813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狗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56EDC76-32C0-8D98-A9AB-7BAD2EC64720}"/>
              </a:ext>
            </a:extLst>
          </p:cNvPr>
          <p:cNvSpPr/>
          <p:nvPr/>
        </p:nvSpPr>
        <p:spPr>
          <a:xfrm>
            <a:off x="8301579" y="4341813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追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A45A487-5DC5-0E11-37AD-E6818861F4AB}"/>
              </a:ext>
            </a:extLst>
          </p:cNvPr>
          <p:cNvSpPr/>
          <p:nvPr/>
        </p:nvSpPr>
        <p:spPr>
          <a:xfrm>
            <a:off x="10041479" y="4341812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</a:t>
            </a:r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340E296E-B258-11BD-FEFA-1395947C8F05}"/>
              </a:ext>
            </a:extLst>
          </p:cNvPr>
          <p:cNvCxnSpPr>
            <a:stCxn id="3" idx="2"/>
            <a:endCxn id="4" idx="2"/>
          </p:cNvCxnSpPr>
          <p:nvPr/>
        </p:nvCxnSpPr>
        <p:spPr>
          <a:xfrm rot="16200000" flipH="1">
            <a:off x="8020063" y="2369060"/>
            <a:ext cx="12700" cy="173990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弧形 16">
            <a:extLst>
              <a:ext uri="{FF2B5EF4-FFF2-40B4-BE49-F238E27FC236}">
                <a16:creationId xmlns:a16="http://schemas.microsoft.com/office/drawing/2014/main" id="{3DEA90FF-B474-2440-206B-4F76CE42D394}"/>
              </a:ext>
            </a:extLst>
          </p:cNvPr>
          <p:cNvCxnSpPr>
            <a:stCxn id="3" idx="2"/>
            <a:endCxn id="11" idx="2"/>
          </p:cNvCxnSpPr>
          <p:nvPr/>
        </p:nvCxnSpPr>
        <p:spPr>
          <a:xfrm rot="5400000" flipH="1" flipV="1">
            <a:off x="8890012" y="1499110"/>
            <a:ext cx="1" cy="34798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接點: 弧形 18">
            <a:extLst>
              <a:ext uri="{FF2B5EF4-FFF2-40B4-BE49-F238E27FC236}">
                <a16:creationId xmlns:a16="http://schemas.microsoft.com/office/drawing/2014/main" id="{977A49A7-EA98-CD73-10A2-2CFDDA559E04}"/>
              </a:ext>
            </a:extLst>
          </p:cNvPr>
          <p:cNvCxnSpPr>
            <a:stCxn id="4" idx="2"/>
            <a:endCxn id="11" idx="2"/>
          </p:cNvCxnSpPr>
          <p:nvPr/>
        </p:nvCxnSpPr>
        <p:spPr>
          <a:xfrm rot="5400000" flipH="1" flipV="1">
            <a:off x="9759962" y="2369060"/>
            <a:ext cx="1" cy="17399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接點: 弧形 20">
            <a:extLst>
              <a:ext uri="{FF2B5EF4-FFF2-40B4-BE49-F238E27FC236}">
                <a16:creationId xmlns:a16="http://schemas.microsoft.com/office/drawing/2014/main" id="{DE6DD68D-0327-5C4F-23A8-3115941036DD}"/>
              </a:ext>
            </a:extLst>
          </p:cNvPr>
          <p:cNvCxnSpPr>
            <a:stCxn id="12" idx="2"/>
            <a:endCxn id="13" idx="2"/>
          </p:cNvCxnSpPr>
          <p:nvPr/>
        </p:nvCxnSpPr>
        <p:spPr>
          <a:xfrm rot="16200000" flipH="1">
            <a:off x="8020063" y="4494193"/>
            <a:ext cx="12700" cy="173990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接點: 弧形 22">
            <a:extLst>
              <a:ext uri="{FF2B5EF4-FFF2-40B4-BE49-F238E27FC236}">
                <a16:creationId xmlns:a16="http://schemas.microsoft.com/office/drawing/2014/main" id="{806E06BF-88BE-16BE-CF2F-DEEC5E7CAB52}"/>
              </a:ext>
            </a:extLst>
          </p:cNvPr>
          <p:cNvCxnSpPr>
            <a:stCxn id="12" idx="2"/>
            <a:endCxn id="14" idx="2"/>
          </p:cNvCxnSpPr>
          <p:nvPr/>
        </p:nvCxnSpPr>
        <p:spPr>
          <a:xfrm rot="5400000" flipH="1" flipV="1">
            <a:off x="8890012" y="3624243"/>
            <a:ext cx="1" cy="34798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接點: 弧形 24">
            <a:extLst>
              <a:ext uri="{FF2B5EF4-FFF2-40B4-BE49-F238E27FC236}">
                <a16:creationId xmlns:a16="http://schemas.microsoft.com/office/drawing/2014/main" id="{7FB56ABB-6B61-1AB9-C429-39DB8FC92941}"/>
              </a:ext>
            </a:extLst>
          </p:cNvPr>
          <p:cNvCxnSpPr>
            <a:stCxn id="13" idx="2"/>
            <a:endCxn id="14" idx="2"/>
          </p:cNvCxnSpPr>
          <p:nvPr/>
        </p:nvCxnSpPr>
        <p:spPr>
          <a:xfrm rot="5400000" flipH="1" flipV="1">
            <a:off x="9759962" y="4494193"/>
            <a:ext cx="1" cy="17399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8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6C26B-5C0E-97BF-2C16-1EDC16FA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646AE7-4C17-2D11-1CEC-DE2650DD7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位置編碼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(Positional Encoding)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48DCD5-4918-AE50-C9EA-D601B3400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句子中字詞順序改變，可能造成語意不同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注意力機制較難捕捉這個結構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我們加上位置編碼的訊息提供給神經網路</a:t>
            </a:r>
          </a:p>
        </p:txBody>
      </p:sp>
    </p:spTree>
    <p:extLst>
      <p:ext uri="{BB962C8B-B14F-4D97-AF65-F5344CB8AC3E}">
        <p14:creationId xmlns:p14="http://schemas.microsoft.com/office/powerpoint/2010/main" val="2903237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F4BE8-9466-4682-7E9C-1BC41ECC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CF96EB-8A23-1331-4B80-DCBEF18F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位置編碼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(Positional Encoding)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80EC3E-123A-202A-7275-0276E7960E29}"/>
              </a:ext>
            </a:extLst>
          </p:cNvPr>
          <p:cNvSpPr/>
          <p:nvPr/>
        </p:nvSpPr>
        <p:spPr>
          <a:xfrm>
            <a:off x="948262" y="2216680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F7F1D6F-7744-B8D5-319A-AD550E6FA3A3}"/>
              </a:ext>
            </a:extLst>
          </p:cNvPr>
          <p:cNvSpPr/>
          <p:nvPr/>
        </p:nvSpPr>
        <p:spPr>
          <a:xfrm>
            <a:off x="2688162" y="2216680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愛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803D00E-6A78-2151-E1EE-7F6BDB75FC9A}"/>
              </a:ext>
            </a:extLst>
          </p:cNvPr>
          <p:cNvSpPr/>
          <p:nvPr/>
        </p:nvSpPr>
        <p:spPr>
          <a:xfrm>
            <a:off x="4428062" y="2216679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49955BE-973D-5C07-0734-D9A968BA3C0B}"/>
              </a:ext>
            </a:extLst>
          </p:cNvPr>
          <p:cNvSpPr/>
          <p:nvPr/>
        </p:nvSpPr>
        <p:spPr>
          <a:xfrm>
            <a:off x="948262" y="4341813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D4DA244-07F0-5E27-6416-385A74B60B3F}"/>
              </a:ext>
            </a:extLst>
          </p:cNvPr>
          <p:cNvSpPr/>
          <p:nvPr/>
        </p:nvSpPr>
        <p:spPr>
          <a:xfrm>
            <a:off x="2688162" y="4341813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愛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0C58E8C-CE4A-6910-D568-F68FA9A253D6}"/>
              </a:ext>
            </a:extLst>
          </p:cNvPr>
          <p:cNvSpPr/>
          <p:nvPr/>
        </p:nvSpPr>
        <p:spPr>
          <a:xfrm>
            <a:off x="4428062" y="4341812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</a:t>
            </a:r>
          </a:p>
        </p:txBody>
      </p: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396983D5-8CB1-13A5-0974-B114B2CA22B8}"/>
              </a:ext>
            </a:extLst>
          </p:cNvPr>
          <p:cNvCxnSpPr>
            <a:stCxn id="5" idx="2"/>
            <a:endCxn id="6" idx="2"/>
          </p:cNvCxnSpPr>
          <p:nvPr/>
        </p:nvCxnSpPr>
        <p:spPr>
          <a:xfrm rot="16200000" flipH="1">
            <a:off x="2406646" y="2369060"/>
            <a:ext cx="12700" cy="173990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接點: 弧形 17">
            <a:extLst>
              <a:ext uri="{FF2B5EF4-FFF2-40B4-BE49-F238E27FC236}">
                <a16:creationId xmlns:a16="http://schemas.microsoft.com/office/drawing/2014/main" id="{F4F98A26-8FB5-2051-E0DE-781FD5F988C3}"/>
              </a:ext>
            </a:extLst>
          </p:cNvPr>
          <p:cNvCxnSpPr>
            <a:stCxn id="5" idx="2"/>
            <a:endCxn id="7" idx="2"/>
          </p:cNvCxnSpPr>
          <p:nvPr/>
        </p:nvCxnSpPr>
        <p:spPr>
          <a:xfrm rot="5400000" flipH="1" flipV="1">
            <a:off x="3276595" y="1499110"/>
            <a:ext cx="1" cy="34798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67E4C8DE-312E-3083-9B06-68A75820D479}"/>
              </a:ext>
            </a:extLst>
          </p:cNvPr>
          <p:cNvCxnSpPr>
            <a:stCxn id="6" idx="2"/>
            <a:endCxn id="7" idx="2"/>
          </p:cNvCxnSpPr>
          <p:nvPr/>
        </p:nvCxnSpPr>
        <p:spPr>
          <a:xfrm rot="5400000" flipH="1" flipV="1">
            <a:off x="4146545" y="2369060"/>
            <a:ext cx="1" cy="17399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接點: 弧形 21">
            <a:extLst>
              <a:ext uri="{FF2B5EF4-FFF2-40B4-BE49-F238E27FC236}">
                <a16:creationId xmlns:a16="http://schemas.microsoft.com/office/drawing/2014/main" id="{F30B0A8F-4836-7B03-0AF6-C7DF539EAD8C}"/>
              </a:ext>
            </a:extLst>
          </p:cNvPr>
          <p:cNvCxnSpPr>
            <a:stCxn id="8" idx="2"/>
            <a:endCxn id="9" idx="2"/>
          </p:cNvCxnSpPr>
          <p:nvPr/>
        </p:nvCxnSpPr>
        <p:spPr>
          <a:xfrm rot="16200000" flipH="1">
            <a:off x="2406646" y="4494193"/>
            <a:ext cx="12700" cy="173990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接點: 弧形 23">
            <a:extLst>
              <a:ext uri="{FF2B5EF4-FFF2-40B4-BE49-F238E27FC236}">
                <a16:creationId xmlns:a16="http://schemas.microsoft.com/office/drawing/2014/main" id="{05D7B762-6BD1-2F04-6511-CE299FA11458}"/>
              </a:ext>
            </a:extLst>
          </p:cNvPr>
          <p:cNvCxnSpPr>
            <a:stCxn id="8" idx="2"/>
            <a:endCxn id="10" idx="2"/>
          </p:cNvCxnSpPr>
          <p:nvPr/>
        </p:nvCxnSpPr>
        <p:spPr>
          <a:xfrm rot="5400000" flipH="1" flipV="1">
            <a:off x="3276595" y="3624243"/>
            <a:ext cx="1" cy="34798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接點: 弧形 25">
            <a:extLst>
              <a:ext uri="{FF2B5EF4-FFF2-40B4-BE49-F238E27FC236}">
                <a16:creationId xmlns:a16="http://schemas.microsoft.com/office/drawing/2014/main" id="{A0AB1551-4C33-3379-650F-5672D2F28FD2}"/>
              </a:ext>
            </a:extLst>
          </p:cNvPr>
          <p:cNvCxnSpPr>
            <a:stCxn id="9" idx="2"/>
            <a:endCxn id="10" idx="2"/>
          </p:cNvCxnSpPr>
          <p:nvPr/>
        </p:nvCxnSpPr>
        <p:spPr>
          <a:xfrm rot="5400000" flipH="1" flipV="1">
            <a:off x="4146545" y="4494193"/>
            <a:ext cx="1" cy="17399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EB99A57-C06D-BC63-A591-DB33EB32F065}"/>
              </a:ext>
            </a:extLst>
          </p:cNvPr>
          <p:cNvSpPr/>
          <p:nvPr/>
        </p:nvSpPr>
        <p:spPr>
          <a:xfrm>
            <a:off x="6561679" y="2216680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7A24537-9F92-BBE7-BEB5-AF7DAD346ADB}"/>
              </a:ext>
            </a:extLst>
          </p:cNvPr>
          <p:cNvSpPr/>
          <p:nvPr/>
        </p:nvSpPr>
        <p:spPr>
          <a:xfrm>
            <a:off x="8301579" y="2216680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追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2B451C8-1F32-990A-B7F9-0573F21A789A}"/>
              </a:ext>
            </a:extLst>
          </p:cNvPr>
          <p:cNvSpPr/>
          <p:nvPr/>
        </p:nvSpPr>
        <p:spPr>
          <a:xfrm>
            <a:off x="10041479" y="2216679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狗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5195C1C-7684-90EF-35D5-DAD03870BE60}"/>
              </a:ext>
            </a:extLst>
          </p:cNvPr>
          <p:cNvSpPr/>
          <p:nvPr/>
        </p:nvSpPr>
        <p:spPr>
          <a:xfrm>
            <a:off x="6561679" y="4341813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狗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D5595F6-A0B8-0001-58F1-8B762A75CE98}"/>
              </a:ext>
            </a:extLst>
          </p:cNvPr>
          <p:cNvSpPr/>
          <p:nvPr/>
        </p:nvSpPr>
        <p:spPr>
          <a:xfrm>
            <a:off x="8301579" y="4341813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追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E8F17E1-7F92-F7C6-26C8-0A45E410EF0F}"/>
              </a:ext>
            </a:extLst>
          </p:cNvPr>
          <p:cNvSpPr/>
          <p:nvPr/>
        </p:nvSpPr>
        <p:spPr>
          <a:xfrm>
            <a:off x="10041479" y="4341812"/>
            <a:ext cx="1176867" cy="102233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</a:t>
            </a:r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E2892160-A679-0AA1-713E-C38C43CE918F}"/>
              </a:ext>
            </a:extLst>
          </p:cNvPr>
          <p:cNvCxnSpPr>
            <a:stCxn id="3" idx="2"/>
            <a:endCxn id="4" idx="2"/>
          </p:cNvCxnSpPr>
          <p:nvPr/>
        </p:nvCxnSpPr>
        <p:spPr>
          <a:xfrm rot="16200000" flipH="1">
            <a:off x="8020063" y="2369060"/>
            <a:ext cx="12700" cy="173990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弧形 16">
            <a:extLst>
              <a:ext uri="{FF2B5EF4-FFF2-40B4-BE49-F238E27FC236}">
                <a16:creationId xmlns:a16="http://schemas.microsoft.com/office/drawing/2014/main" id="{3E4F2561-B58B-06A5-921B-8C591575976F}"/>
              </a:ext>
            </a:extLst>
          </p:cNvPr>
          <p:cNvCxnSpPr>
            <a:stCxn id="3" idx="2"/>
            <a:endCxn id="11" idx="2"/>
          </p:cNvCxnSpPr>
          <p:nvPr/>
        </p:nvCxnSpPr>
        <p:spPr>
          <a:xfrm rot="5400000" flipH="1" flipV="1">
            <a:off x="8890012" y="1499110"/>
            <a:ext cx="1" cy="34798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接點: 弧形 18">
            <a:extLst>
              <a:ext uri="{FF2B5EF4-FFF2-40B4-BE49-F238E27FC236}">
                <a16:creationId xmlns:a16="http://schemas.microsoft.com/office/drawing/2014/main" id="{1C06C8DE-6B9F-6D7D-8A69-ED736E2A684F}"/>
              </a:ext>
            </a:extLst>
          </p:cNvPr>
          <p:cNvCxnSpPr>
            <a:stCxn id="4" idx="2"/>
            <a:endCxn id="11" idx="2"/>
          </p:cNvCxnSpPr>
          <p:nvPr/>
        </p:nvCxnSpPr>
        <p:spPr>
          <a:xfrm rot="5400000" flipH="1" flipV="1">
            <a:off x="9759962" y="2369060"/>
            <a:ext cx="1" cy="17399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接點: 弧形 20">
            <a:extLst>
              <a:ext uri="{FF2B5EF4-FFF2-40B4-BE49-F238E27FC236}">
                <a16:creationId xmlns:a16="http://schemas.microsoft.com/office/drawing/2014/main" id="{60481559-4081-C9CC-A84C-786C5D78A78E}"/>
              </a:ext>
            </a:extLst>
          </p:cNvPr>
          <p:cNvCxnSpPr>
            <a:stCxn id="12" idx="2"/>
            <a:endCxn id="13" idx="2"/>
          </p:cNvCxnSpPr>
          <p:nvPr/>
        </p:nvCxnSpPr>
        <p:spPr>
          <a:xfrm rot="16200000" flipH="1">
            <a:off x="8020063" y="4494193"/>
            <a:ext cx="12700" cy="173990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接點: 弧形 22">
            <a:extLst>
              <a:ext uri="{FF2B5EF4-FFF2-40B4-BE49-F238E27FC236}">
                <a16:creationId xmlns:a16="http://schemas.microsoft.com/office/drawing/2014/main" id="{C2C3B69F-0BAE-FD4E-FF9A-BCC0E869B91B}"/>
              </a:ext>
            </a:extLst>
          </p:cNvPr>
          <p:cNvCxnSpPr>
            <a:stCxn id="12" idx="2"/>
            <a:endCxn id="14" idx="2"/>
          </p:cNvCxnSpPr>
          <p:nvPr/>
        </p:nvCxnSpPr>
        <p:spPr>
          <a:xfrm rot="5400000" flipH="1" flipV="1">
            <a:off x="8890012" y="3624243"/>
            <a:ext cx="1" cy="34798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接點: 弧形 24">
            <a:extLst>
              <a:ext uri="{FF2B5EF4-FFF2-40B4-BE49-F238E27FC236}">
                <a16:creationId xmlns:a16="http://schemas.microsoft.com/office/drawing/2014/main" id="{2852586B-71C4-3D70-BCF6-02FCE2643F6C}"/>
              </a:ext>
            </a:extLst>
          </p:cNvPr>
          <p:cNvCxnSpPr>
            <a:stCxn id="13" idx="2"/>
            <a:endCxn id="14" idx="2"/>
          </p:cNvCxnSpPr>
          <p:nvPr/>
        </p:nvCxnSpPr>
        <p:spPr>
          <a:xfrm rot="5400000" flipH="1" flipV="1">
            <a:off x="9759962" y="4494193"/>
            <a:ext cx="1" cy="1739900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6F3EF931-6590-7C71-E45E-6F0F61772FA6}"/>
              </a:ext>
            </a:extLst>
          </p:cNvPr>
          <p:cNvSpPr/>
          <p:nvPr/>
        </p:nvSpPr>
        <p:spPr>
          <a:xfrm>
            <a:off x="757754" y="2070619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94085B7D-4C01-1A7A-A953-05CB8CBF35D9}"/>
              </a:ext>
            </a:extLst>
          </p:cNvPr>
          <p:cNvSpPr/>
          <p:nvPr/>
        </p:nvSpPr>
        <p:spPr>
          <a:xfrm>
            <a:off x="2472249" y="2070619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8E6F206C-5378-A5A6-2283-800D70138F98}"/>
              </a:ext>
            </a:extLst>
          </p:cNvPr>
          <p:cNvSpPr/>
          <p:nvPr/>
        </p:nvSpPr>
        <p:spPr>
          <a:xfrm>
            <a:off x="4212149" y="2070619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2E61E66E-423A-8A83-B358-D0CE33E784B3}"/>
              </a:ext>
            </a:extLst>
          </p:cNvPr>
          <p:cNvSpPr/>
          <p:nvPr/>
        </p:nvSpPr>
        <p:spPr>
          <a:xfrm>
            <a:off x="732362" y="4200801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7D61F16D-080E-E15B-3170-B5C339590539}"/>
              </a:ext>
            </a:extLst>
          </p:cNvPr>
          <p:cNvSpPr/>
          <p:nvPr/>
        </p:nvSpPr>
        <p:spPr>
          <a:xfrm>
            <a:off x="2472249" y="4200801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114D7E6-DCF5-3BE9-354D-D095188B2628}"/>
              </a:ext>
            </a:extLst>
          </p:cNvPr>
          <p:cNvSpPr/>
          <p:nvPr/>
        </p:nvSpPr>
        <p:spPr>
          <a:xfrm>
            <a:off x="4212149" y="4200801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255ED99A-EEE5-0E57-FD8F-80AD2DC1E184}"/>
              </a:ext>
            </a:extLst>
          </p:cNvPr>
          <p:cNvSpPr/>
          <p:nvPr/>
        </p:nvSpPr>
        <p:spPr>
          <a:xfrm>
            <a:off x="6347894" y="2069041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B1E44F49-D5EC-906E-7D67-B558CDE65947}"/>
              </a:ext>
            </a:extLst>
          </p:cNvPr>
          <p:cNvSpPr/>
          <p:nvPr/>
        </p:nvSpPr>
        <p:spPr>
          <a:xfrm>
            <a:off x="8098379" y="2076156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7FABDC8C-6F18-8335-7287-CC38E446EB02}"/>
              </a:ext>
            </a:extLst>
          </p:cNvPr>
          <p:cNvSpPr/>
          <p:nvPr/>
        </p:nvSpPr>
        <p:spPr>
          <a:xfrm>
            <a:off x="9848864" y="2076156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19BA220D-4E0A-593A-2037-1D73B6379609}"/>
              </a:ext>
            </a:extLst>
          </p:cNvPr>
          <p:cNvSpPr/>
          <p:nvPr/>
        </p:nvSpPr>
        <p:spPr>
          <a:xfrm>
            <a:off x="6345779" y="4200801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1DF19BBE-8EE5-CED1-A8B8-3117F02D806B}"/>
              </a:ext>
            </a:extLst>
          </p:cNvPr>
          <p:cNvSpPr/>
          <p:nvPr/>
        </p:nvSpPr>
        <p:spPr>
          <a:xfrm>
            <a:off x="8098379" y="4203934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263D7577-D84F-F621-F6C8-8BDD1B05D94B}"/>
              </a:ext>
            </a:extLst>
          </p:cNvPr>
          <p:cNvSpPr/>
          <p:nvPr/>
        </p:nvSpPr>
        <p:spPr>
          <a:xfrm>
            <a:off x="9825579" y="4200801"/>
            <a:ext cx="431800" cy="391054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08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97CC-8F93-BCEF-9B69-3A16BF3B7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A7095-B06C-8EBD-E7FE-F94A6D8D6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多頭注意力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(Multi-Head Attention)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5B613C4F-CB2E-F0E0-BF10-78425F1286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512938"/>
              </p:ext>
            </p:extLst>
          </p:nvPr>
        </p:nvGraphicFramePr>
        <p:xfrm>
          <a:off x="838200" y="1825624"/>
          <a:ext cx="10515597" cy="3711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8485258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5540788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15102422"/>
                    </a:ext>
                  </a:extLst>
                </a:gridCol>
              </a:tblGrid>
              <a:tr h="927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自注意力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多頭注意力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593309"/>
                  </a:ext>
                </a:extLst>
              </a:tr>
              <a:tr h="927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本質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一組</a:t>
                      </a:r>
                      <a:r>
                        <a:rPr lang="en-US" altLang="zh-TW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attention</a:t>
                      </a:r>
                      <a:endParaRPr lang="zh-TW" altLang="en-US" sz="2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多組</a:t>
                      </a:r>
                      <a:r>
                        <a:rPr lang="en-US" altLang="zh-TW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attention</a:t>
                      </a:r>
                      <a:endParaRPr lang="zh-TW" altLang="en-US" sz="2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073597"/>
                  </a:ext>
                </a:extLst>
              </a:tr>
              <a:tr h="9278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表達能力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單一關係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多種關係同時學習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776386"/>
                  </a:ext>
                </a:extLst>
              </a:tr>
              <a:tr h="9278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計算方式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一組 </a:t>
                      </a:r>
                      <a:r>
                        <a:rPr lang="en-US" altLang="zh-TW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Q, K, V</a:t>
                      </a:r>
                      <a:endParaRPr lang="zh-TW" altLang="en-US" sz="2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多組 </a:t>
                      </a:r>
                      <a:r>
                        <a:rPr lang="en-US" altLang="zh-TW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Q, K, V</a:t>
                      </a:r>
                      <a:endParaRPr lang="zh-TW" altLang="en-US" sz="2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454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326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73E7AB-3B95-36B1-5F7D-91D204DDB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altLang="zh-TW" dirty="0"/>
              <a:t>Self-Attention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AC8061D-E450-2981-74A7-D8516532C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444" y="1280160"/>
            <a:ext cx="10347112" cy="5130800"/>
          </a:xfrm>
        </p:spPr>
      </p:pic>
    </p:spTree>
    <p:extLst>
      <p:ext uri="{BB962C8B-B14F-4D97-AF65-F5344CB8AC3E}">
        <p14:creationId xmlns:p14="http://schemas.microsoft.com/office/powerpoint/2010/main" val="1478755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7D1C57-7172-7C0F-5B6A-5E479D32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計算維度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839CF2-7CD5-76E2-24AC-A2B25F0A3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hidden_dim</a:t>
            </a:r>
            <a:r>
              <a:rPr lang="zh-TW" altLang="en-US" dirty="0"/>
              <a:t>：</a:t>
            </a:r>
            <a:r>
              <a:rPr lang="en-US" altLang="zh-TW" dirty="0"/>
              <a:t>1024</a:t>
            </a:r>
          </a:p>
          <a:p>
            <a:endParaRPr lang="en-US" altLang="zh-TW" dirty="0"/>
          </a:p>
          <a:p>
            <a:r>
              <a:rPr lang="en-US" altLang="zh-TW" dirty="0" err="1"/>
              <a:t>head_num</a:t>
            </a:r>
            <a:r>
              <a:rPr lang="zh-TW" altLang="en-US" dirty="0"/>
              <a:t>：</a:t>
            </a:r>
            <a:r>
              <a:rPr lang="en-US" altLang="zh-TW" dirty="0"/>
              <a:t>8</a:t>
            </a:r>
          </a:p>
          <a:p>
            <a:endParaRPr lang="en-US" altLang="zh-TW" dirty="0"/>
          </a:p>
          <a:p>
            <a:r>
              <a:rPr lang="en-US" altLang="zh-TW" dirty="0" err="1"/>
              <a:t>Head_dim</a:t>
            </a:r>
            <a:r>
              <a:rPr lang="zh-TW" altLang="en-US" dirty="0"/>
              <a:t>：</a:t>
            </a:r>
            <a:r>
              <a:rPr lang="en-US" altLang="zh-TW" dirty="0"/>
              <a:t>1024 / 8 = 128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0816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1C7C-74ED-9E8B-F15B-89B8F090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CF91AA-510E-AEEC-64ED-31B41221A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altLang="zh-TW" dirty="0"/>
              <a:t>Multi-Head-Attention</a:t>
            </a:r>
            <a:endParaRPr lang="zh-TW" altLang="en-US" dirty="0"/>
          </a:p>
        </p:txBody>
      </p:sp>
      <p:pic>
        <p:nvPicPr>
          <p:cNvPr id="7" name="內容版面配置區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EF0B271-A6CC-D24B-675D-344E64D6B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736" y="1280160"/>
            <a:ext cx="8478528" cy="5432980"/>
          </a:xfrm>
        </p:spPr>
      </p:pic>
    </p:spTree>
    <p:extLst>
      <p:ext uri="{BB962C8B-B14F-4D97-AF65-F5344CB8AC3E}">
        <p14:creationId xmlns:p14="http://schemas.microsoft.com/office/powerpoint/2010/main" val="2574989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F4034-087F-DCA0-6926-7E351D3A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(Normalization)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F9283B-92DD-A832-BA92-DC85CBBD4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避免梯度爆炸</a:t>
            </a:r>
            <a:r>
              <a:rPr lang="zh-TW" altLang="en-US" dirty="0"/>
              <a:t> </a:t>
            </a:r>
            <a:r>
              <a:rPr lang="en-US" altLang="zh-TW" dirty="0"/>
              <a:t>or</a:t>
            </a:r>
            <a:r>
              <a:rPr lang="zh-TW" altLang="en-US" dirty="0"/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梯度消失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/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提升訓練穩定性並加速收斂</a:t>
            </a:r>
          </a:p>
          <a:p>
            <a:endParaRPr lang="en-US" altLang="zh-TW" dirty="0"/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各特徵影響力較為平均，並減少</a:t>
            </a:r>
            <a:r>
              <a:rPr lang="en-US" altLang="zh-TW" dirty="0"/>
              <a:t>overfitting</a:t>
            </a:r>
          </a:p>
          <a:p>
            <a:endParaRPr lang="en-US" altLang="zh-TW" dirty="0"/>
          </a:p>
          <a:p>
            <a:r>
              <a:rPr lang="en-US" altLang="zh-TW" dirty="0"/>
              <a:t>Layer Norm </a:t>
            </a:r>
            <a:r>
              <a:rPr lang="en-US" altLang="zh-TW" dirty="0" err="1"/>
              <a:t>v.s</a:t>
            </a:r>
            <a:r>
              <a:rPr lang="en-US" altLang="zh-TW" dirty="0"/>
              <a:t>. Batch Norm</a:t>
            </a:r>
          </a:p>
        </p:txBody>
      </p:sp>
    </p:spTree>
    <p:extLst>
      <p:ext uri="{BB962C8B-B14F-4D97-AF65-F5344CB8AC3E}">
        <p14:creationId xmlns:p14="http://schemas.microsoft.com/office/powerpoint/2010/main" val="1492025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C2AA7D3-D726-E5B0-432C-BD8E847D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zh-TW" altLang="en-US" sz="5400">
                <a:latin typeface="微軟正黑體" panose="020B0604030504040204" pitchFamily="34" charset="-120"/>
                <a:ea typeface="微軟正黑體" panose="020B0604030504040204" pitchFamily="34" charset="-120"/>
              </a:rPr>
              <a:t>殘差網路</a:t>
            </a:r>
            <a:r>
              <a:rPr lang="en-US" altLang="zh-TW" sz="5400">
                <a:latin typeface="微軟正黑體" panose="020B0604030504040204" pitchFamily="34" charset="-120"/>
                <a:ea typeface="微軟正黑體" panose="020B0604030504040204" pitchFamily="34" charset="-120"/>
              </a:rPr>
              <a:t>(ResNet)</a:t>
            </a:r>
            <a:endParaRPr lang="zh-TW" altLang="en-US" sz="5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D0622B-62D0-DD49-F6A0-B1161255C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梯度消失與殘差網路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殘差的計算方式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63915190-E56F-F582-0BE1-4B363BE84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5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07514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78E918B-BC42-30A2-2032-B953AE71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前饋神經網路</a:t>
            </a:r>
            <a:r>
              <a:rPr lang="en-US" altLang="zh-TW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(FFW)</a:t>
            </a:r>
          </a:p>
        </p:txBody>
      </p:sp>
      <p:pic>
        <p:nvPicPr>
          <p:cNvPr id="5" name="內容版面配置區 4" descr="一張含有 圓形, 螢幕擷取畫面, 對稱, 行 的圖片&#10;&#10;AI 產生的內容可能不正確。">
            <a:extLst>
              <a:ext uri="{FF2B5EF4-FFF2-40B4-BE49-F238E27FC236}">
                <a16:creationId xmlns:a16="http://schemas.microsoft.com/office/drawing/2014/main" id="{AB38E0F2-5B10-5737-0DA3-BE0C92835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7" y="1966293"/>
            <a:ext cx="1092554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22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14B48-DAA5-79ED-0F79-6E757557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服裝, 眼鏡, 電腦 的圖片&#10;&#10;AI 產生的內容可能不正確。">
            <a:extLst>
              <a:ext uri="{FF2B5EF4-FFF2-40B4-BE49-F238E27FC236}">
                <a16:creationId xmlns:a16="http://schemas.microsoft.com/office/drawing/2014/main" id="{9275E391-8235-1B2B-AD2A-CA9370164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57" r="2" b="5112"/>
          <a:stretch>
            <a:fillRect/>
          </a:stretch>
        </p:blipFill>
        <p:spPr>
          <a:xfrm>
            <a:off x="3882570" y="10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E4CF312-BB9B-B464-E495-41B3CB10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9730EA1-4FC3-E89F-5373-96A8B6EE8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F091FE6-F7DA-2521-6BFE-332880153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16D9DBB-2986-5442-06AB-67543341E5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9738CB39-27B2-1223-5FEE-0F44DBC971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C44163D0-7DF2-8F7D-BE34-CA1B017E5C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AB797E2-4A95-1A0F-A48A-97BB4160DA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111D218B-D8E3-F7A5-7A49-E5AD31268B6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42FACD2E-59E1-91CB-BC92-4A7D8DC67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6" name="文字方塊 5">
            <a:extLst>
              <a:ext uri="{FF2B5EF4-FFF2-40B4-BE49-F238E27FC236}">
                <a16:creationId xmlns:a16="http://schemas.microsoft.com/office/drawing/2014/main" id="{06B0075F-E8F7-DCEB-E6E6-8F9E384A270E}"/>
              </a:ext>
            </a:extLst>
          </p:cNvPr>
          <p:cNvSpPr txBox="1"/>
          <p:nvPr/>
        </p:nvSpPr>
        <p:spPr>
          <a:xfrm>
            <a:off x="517681" y="3105834"/>
            <a:ext cx="2661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Coding Time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354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52EE2-1333-01FB-F6F5-89ED34F87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Other Topics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1FC904-B6F3-805F-07B6-ED9562EC3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Temperature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hlinkClick r:id="rId2"/>
            </a:endParaRPr>
          </a:p>
          <a:p>
            <a:r>
              <a:rPr lang="en-US" altLang="zh-TW" dirty="0"/>
              <a:t>Top K </a:t>
            </a:r>
            <a:r>
              <a:rPr lang="en-US" altLang="zh-TW" dirty="0" err="1"/>
              <a:t>v.s</a:t>
            </a:r>
            <a:r>
              <a:rPr lang="en-US" altLang="zh-TW" dirty="0"/>
              <a:t> Top P</a:t>
            </a:r>
            <a:endParaRPr lang="zh-TW" altLang="en-US" dirty="0"/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hlinkClick r:id="rId2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Transformer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工作流視覺化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2420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84763B-FFFF-76BD-E853-65F3A47CE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Bonus</a:t>
            </a:r>
            <a:r>
              <a:rPr lang="zh-TW" altLang="en-US" dirty="0"/>
              <a:t> </a:t>
            </a:r>
            <a:r>
              <a:rPr lang="en-US" altLang="zh-TW" dirty="0"/>
              <a:t>Time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8C2B7C-C1A9-3759-6BC4-3818AF2B7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GPT 2 </a:t>
            </a:r>
            <a:r>
              <a:rPr lang="en-US" altLang="zh-TW" dirty="0" err="1"/>
              <a:t>v.s</a:t>
            </a:r>
            <a:r>
              <a:rPr lang="en-US" altLang="zh-TW" dirty="0"/>
              <a:t> GPT 1</a:t>
            </a:r>
          </a:p>
          <a:p>
            <a:endParaRPr lang="en-US" altLang="zh-TW" dirty="0"/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GPT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各層視覺化呈現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/>
          </a:p>
          <a:p>
            <a:r>
              <a:rPr lang="en-US" altLang="zh-TW" dirty="0">
                <a:hlinkClick r:id="rId3"/>
              </a:rPr>
              <a:t>LLM Architecture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9088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21659</TotalTime>
  <Words>257</Words>
  <Application>Microsoft Office PowerPoint</Application>
  <PresentationFormat>寬螢幕</PresentationFormat>
  <Paragraphs>102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微軟正黑體</vt:lpstr>
      <vt:lpstr>Aptos</vt:lpstr>
      <vt:lpstr>Aptos Display</vt:lpstr>
      <vt:lpstr>Arial</vt:lpstr>
      <vt:lpstr>Office 佈景主題</vt:lpstr>
      <vt:lpstr>Transformer架構及實作</vt:lpstr>
      <vt:lpstr>Transformer零件</vt:lpstr>
      <vt:lpstr>位置編碼(Positional Encoding)</vt:lpstr>
      <vt:lpstr>位置編碼(Positional Encoding)</vt:lpstr>
      <vt:lpstr>位置編碼(Positional Encoding)</vt:lpstr>
      <vt:lpstr>多頭注意力(Multi-Head Attention)</vt:lpstr>
      <vt:lpstr>Self-Attention</vt:lpstr>
      <vt:lpstr>計算維度</vt:lpstr>
      <vt:lpstr>Multi-Head-Attention</vt:lpstr>
      <vt:lpstr>標準化(Normalization)</vt:lpstr>
      <vt:lpstr>殘差網路(ResNet)</vt:lpstr>
      <vt:lpstr>前饋神經網路(FFW)</vt:lpstr>
      <vt:lpstr>PowerPoint 簡報</vt:lpstr>
      <vt:lpstr>Other Topics</vt:lpstr>
      <vt:lpstr>Bonus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jonas.yen 顏嘉宏</dc:creator>
  <cp:lastModifiedBy>jonas.yen 顏嘉宏</cp:lastModifiedBy>
  <cp:revision>16</cp:revision>
  <dcterms:created xsi:type="dcterms:W3CDTF">2026-03-09T05:49:29Z</dcterms:created>
  <dcterms:modified xsi:type="dcterms:W3CDTF">2026-04-16T06:53:06Z</dcterms:modified>
</cp:coreProperties>
</file>