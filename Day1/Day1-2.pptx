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77" r:id="rId7"/>
    <p:sldId id="278" r:id="rId8"/>
    <p:sldId id="279" r:id="rId9"/>
    <p:sldId id="27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onas.yen\Desktop\Qdrant\&#27963;&#38913;&#31807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onas.yen\Desktop\Qdrant\&#27963;&#38913;&#31807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altLang="zh-TW"/>
              <a:t>Linear</a:t>
            </a:r>
            <a:r>
              <a:rPr lang="en-US" altLang="zh-TW" baseline="0"/>
              <a:t> Regression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zh-TW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工作表3!$B$1</c:f>
              <c:strCache>
                <c:ptCount val="1"/>
                <c:pt idx="0">
                  <c:v>銷售額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2"/>
                </a:solidFill>
                <a:round/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6.6389107611548551E-2"/>
                  <c:y val="0.1263236366287547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TW" sz="1400" baseline="0" dirty="0"/>
                      <a:t>y = 1.4x + 0.8</a:t>
                    </a:r>
                    <a:endParaRPr lang="en-US" altLang="zh-TW" sz="1400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zh-TW"/>
                </a:p>
              </c:txPr>
            </c:trendlineLbl>
          </c:trendline>
          <c:xVal>
            <c:numRef>
              <c:f>工作表3!$A$2:$A$6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工作表3!$B$2:$B$6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F5-4538-B984-19F95782B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4422352"/>
        <c:axId val="1804419952"/>
      </c:scatterChart>
      <c:valAx>
        <c:axId val="1804422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廣告支出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04419952"/>
        <c:crosses val="autoZero"/>
        <c:crossBetween val="midCat"/>
      </c:valAx>
      <c:valAx>
        <c:axId val="1804419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銷售額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04422352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altLang="zh-TW"/>
              <a:t>Linear</a:t>
            </a:r>
            <a:r>
              <a:rPr lang="en-US" altLang="zh-TW" baseline="0"/>
              <a:t> Regression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zh-TW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工作表3!$B$1</c:f>
              <c:strCache>
                <c:ptCount val="1"/>
                <c:pt idx="0">
                  <c:v>銷售額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2"/>
                </a:solidFill>
                <a:round/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6.6389107611548551E-2"/>
                  <c:y val="0.1263236366287547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TW" sz="1400" baseline="0" dirty="0"/>
                      <a:t>y = 1.4x + 0.8</a:t>
                    </a:r>
                    <a:endParaRPr lang="en-US" altLang="zh-TW" sz="1400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zh-TW"/>
                </a:p>
              </c:txPr>
            </c:trendlineLbl>
          </c:trendline>
          <c:xVal>
            <c:numRef>
              <c:f>工作表3!$A$2:$A$6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工作表3!$B$2:$B$6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F5-4538-B984-19F95782B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4422352"/>
        <c:axId val="1804419952"/>
      </c:scatterChart>
      <c:valAx>
        <c:axId val="1804422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廣告支出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04419952"/>
        <c:crosses val="autoZero"/>
        <c:crossBetween val="midCat"/>
      </c:valAx>
      <c:valAx>
        <c:axId val="1804419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銷售額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04422352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1A11A-9E56-9CCC-ABD6-98A39120D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D3B729-7FBF-EE07-B517-B89F4C141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5C70AA-C91C-51CD-B3DF-7A72F4F2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25BC28-076A-0C51-497E-63030C34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6CD107-EE64-D058-03FA-54F11634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1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BA13D5-771E-F15B-14E3-28826675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240204-6347-3F6B-9029-D9EC380B2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50DA8E-BB84-F183-A20F-EB20606B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EDECE8-E297-5E33-C06B-6E80084A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89CA44-327B-39BB-C750-1E3C9B9C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30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4EE30-4A8E-BCF4-95C2-44267DA3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F74061-59C5-7A8C-8128-0DFA36E8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99CB41-D62A-7E02-FEB6-B9D4AE21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73BA55-E520-4972-2BE3-7B501C34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54A0EA-6E4C-53DF-C633-72A5FA47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93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7B687F-3CE2-3ADB-3898-9FB4D6C5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711EF3-4BAA-4166-EDFA-262AA1FEA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B379557-B958-5CB7-033F-8108A18B3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E40BA5-D126-35D8-279F-7ACA0963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FC3944-4F2B-4820-9FA4-F1EDA931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F38B21-25D6-BF58-B938-82C5DC6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59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EE4A9-86FD-FE38-1D9A-D09414F6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07B511-169A-7B55-1B8D-BFFBCCC5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6918C1-812D-717D-968B-EF5F62605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582751-04B9-C0A2-22A9-583CA353F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E1459E-C95D-6CE5-AA38-BF6A02161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D1462AD-4229-B289-52B6-4A7381A7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DE21D9-DCDB-3F2A-9753-B4D0C926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CC2583-0F98-B95F-1024-38178DD4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14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2CC529-1875-741C-9E03-F8EEEEA4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24EAF6-85AA-49C4-3CB1-0FC00E52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DD9CFE-DFFD-9220-796D-F23740D8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511852-8CA3-37EC-A738-A1624735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40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D87EAF-936C-285E-87F8-724D7DC7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A51B3BA-0000-D71B-A704-396E5981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3045E1-0418-D331-8427-BD4B2686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19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AF949-773C-7792-AE58-49C660A6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3FC945-460C-3D21-941D-99AFD4C2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F7EBCB-33C6-F8F2-F06D-3B351A1FD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F6D3A9-529E-DABC-5FF2-78BF3F67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CF1293-75F6-694D-44B3-EC9B9DCB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CBB9F2-9B98-DDAB-BA0E-29ECD304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19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6FCF4-D4D0-9D0C-4BA7-E3DE282B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FB0085E-0DF9-89A2-05E2-F5C6834F7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6FA6AF-094A-EE95-93E4-CCAF0CA8A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0E7635-5F2A-56B7-A149-8BA03436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3E116B-B713-0D2B-B2FA-D59D6C5B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36345C-FDF5-CB98-A966-FAE54F67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55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324E0F-078D-5664-0259-1AE2986A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F38B47-C325-BFC4-48B6-4EB9935D2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E4A33-8C61-18AA-1B58-F963D1CF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31F2BB-A0B6-BB0F-E213-D047B665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2CA31-74D4-A2B2-5789-AAA8D2B1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42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5C7007-EB86-8444-DCBC-D517717A6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DF93D6-6A42-BC49-BCBD-DA8FC75F4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2842A0-283B-8548-D945-7189424D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7F59C0-BD91-463A-09E4-CDE26407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33F7C1-474C-E97E-D003-3DD4CEFE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69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029677-3FC2-527B-9516-D710F9E5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83A668-3FBD-99C7-083A-CF5AFA98C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B60855-3112-4B51-988D-6D1EF24F3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3637E-D073-42BC-826C-F07BCD5094E0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C66ABA-F258-3AAA-99A7-58D854CED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E38D84-89FB-2425-7932-D7FBA37C6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36FEA-3EBB-4F05-97D2-36887CEA3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25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CB2D63-8D9E-B911-D914-07F0D21CE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介紹神經網路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565326-310C-3F88-7120-A213C3A28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55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圓形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58B31052-5476-A31C-294E-130D7A90E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690D277-F63E-AF2D-70AA-A870A5330691}"/>
              </a:ext>
            </a:extLst>
          </p:cNvPr>
          <p:cNvSpPr txBox="1"/>
          <p:nvPr/>
        </p:nvSpPr>
        <p:spPr>
          <a:xfrm>
            <a:off x="1628335" y="1066799"/>
            <a:ext cx="59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D0B65C4-962A-AAD0-1F7D-91C823B4A752}"/>
              </a:ext>
            </a:extLst>
          </p:cNvPr>
          <p:cNvSpPr txBox="1"/>
          <p:nvPr/>
        </p:nvSpPr>
        <p:spPr>
          <a:xfrm>
            <a:off x="1628335" y="2614596"/>
            <a:ext cx="59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C02C523-302A-245E-7671-098C96C54DB3}"/>
              </a:ext>
            </a:extLst>
          </p:cNvPr>
          <p:cNvSpPr txBox="1"/>
          <p:nvPr/>
        </p:nvSpPr>
        <p:spPr>
          <a:xfrm>
            <a:off x="1628335" y="4162393"/>
            <a:ext cx="59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673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62E1BD-E797-8EA8-A6DD-0CA1C6DB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算數學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EFD955D-3D05-23B1-4743-520206663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Neuron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輸出</a:t>
                </a:r>
                <a:r>
                  <a:rPr lang="zh-TW" altLang="en-US" dirty="0"/>
                  <a:t>：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𝑢𝑡𝑝𝑢𝑡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激活函數</a:t>
                </a:r>
                <a:r>
                  <a:rPr lang="en-US" altLang="zh-TW" dirty="0"/>
                  <a:t>(activation)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⁡(0,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EFD955D-3D05-23B1-4743-520206663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行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ABAEAB40-247A-BD75-52FE-2FA236ABE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714"/>
            <a:ext cx="4285714" cy="2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5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2A00-5E36-B4D0-9588-D055F2FC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CC74A-9B27-6A8B-7C5B-242088E2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算數學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1CF3BB-A744-23D1-62F5-134123156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計算</a:t>
                </a:r>
                <a:r>
                  <a:rPr lang="en-US" altLang="zh-TW" dirty="0"/>
                  <a:t>loss</a:t>
                </a:r>
                <a:r>
                  <a:rPr lang="zh-TW" altLang="en-US" dirty="0"/>
                  <a:t>：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𝑝𝑟𝑒𝑑𝑖𝑐𝑡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算梯度更新權重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1CF3BB-A744-23D1-62F5-134123156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96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6316C0-C177-2C3A-4140-B08009EE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最小平方法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A8AD9B49-16F5-ACA2-CCB3-763E9FEC6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846723"/>
              </p:ext>
            </p:extLst>
          </p:nvPr>
        </p:nvGraphicFramePr>
        <p:xfrm>
          <a:off x="838200" y="1825625"/>
          <a:ext cx="10515600" cy="3042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07270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37012875"/>
                    </a:ext>
                  </a:extLst>
                </a:gridCol>
              </a:tblGrid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廣告支出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銷售額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28205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6644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706289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918927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58506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52810"/>
                  </a:ext>
                </a:extLst>
              </a:tr>
            </a:tbl>
          </a:graphicData>
        </a:graphic>
      </p:graphicFrame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6DA992A6-3D4D-42E6-C961-7BA24DD2D8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1018734"/>
              </p:ext>
            </p:extLst>
          </p:nvPr>
        </p:nvGraphicFramePr>
        <p:xfrm>
          <a:off x="1976967" y="1690688"/>
          <a:ext cx="8238066" cy="49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278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898F-86C0-5C33-2BBA-F196AAF9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FAB41-629D-8A44-BC9C-570BAE78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最小平方法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3BF9FD79-058E-58E5-A3B8-024818CF2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假設回歸線為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3BF9FD79-058E-58E5-A3B8-024818CF2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431A64C-49FC-6C1A-97BC-A39CCAAFB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64535"/>
              </p:ext>
            </p:extLst>
          </p:nvPr>
        </p:nvGraphicFramePr>
        <p:xfrm>
          <a:off x="2032000" y="2713566"/>
          <a:ext cx="81280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010167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4176696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輸入值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(x)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預測值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(y)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8029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w+b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3865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2w+b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44352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3w+b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267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4w+b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9119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5w+b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30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30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88E9-89CB-CD5D-987B-4D851529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5A5CB7-5ED6-085E-7662-BAC0B7A3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最小平方法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3A06F9-9AA7-657B-36FC-D413F6BC5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計算誤差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6E4ECE5-7485-2245-DACC-82F464B927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055338"/>
                  </p:ext>
                </p:extLst>
              </p:nvPr>
            </p:nvGraphicFramePr>
            <p:xfrm>
              <a:off x="2032000" y="2429669"/>
              <a:ext cx="8127999" cy="3667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010167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4176696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652923748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實際值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預測值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loss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680298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3865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4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444352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3w+b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5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3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1026701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6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6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4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6691196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8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8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5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4309852"/>
                      </a:ext>
                    </a:extLst>
                  </a:tr>
                  <a:tr h="5238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總和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92493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6E4ECE5-7485-2245-DACC-82F464B927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055338"/>
                  </p:ext>
                </p:extLst>
              </p:nvPr>
            </p:nvGraphicFramePr>
            <p:xfrm>
              <a:off x="2032000" y="2429669"/>
              <a:ext cx="8127999" cy="3667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010167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4176696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652923748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實際值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預測值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loss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680298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1163" r="-899" b="-5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3865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01163" r="-899" b="-4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444352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3w+b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97701" r="-899" b="-298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1026701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6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402326" r="-899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6691196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8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5w+b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502326" r="-899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309852"/>
                      </a:ext>
                    </a:extLst>
                  </a:tr>
                  <a:tr h="5238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總和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92493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573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53145-83B0-AA0F-A0DB-013F9C91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最小平方法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576744-9767-6ED2-55E9-A21B459A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求最小值的方法：微分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23F4054-AA61-04D1-5F9A-048E08F388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777104"/>
                  </p:ext>
                </p:extLst>
              </p:nvPr>
            </p:nvGraphicFramePr>
            <p:xfrm>
              <a:off x="2032000" y="2429669"/>
              <a:ext cx="8127999" cy="3667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010167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4176696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652923748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loss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微分</a:t>
                          </a: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(w)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微分</a:t>
                          </a: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(b)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680298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2−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2−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93865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4−2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4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4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444352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5−3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5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5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1026701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6−4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-4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6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4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6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4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6691196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8−5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𝑏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微軟正黑體" panose="020B0604030504040204" pitchFamily="34" charset="-12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8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5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-1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8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5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𝑏</m:t>
                              </m:r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)</m:t>
                              </m:r>
                            </m:oMath>
                          </a14:m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4309852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總和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78891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23F4054-AA61-04D1-5F9A-048E08F388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777104"/>
                  </p:ext>
                </p:extLst>
              </p:nvPr>
            </p:nvGraphicFramePr>
            <p:xfrm>
              <a:off x="2032000" y="2429669"/>
              <a:ext cx="8127999" cy="3667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4010167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4176696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652923748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loss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微分</a:t>
                          </a: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(w)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微分</a:t>
                          </a:r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(b)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680298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" t="-101163" r="-200674" b="-5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0" t="-101163" r="-101126" b="-5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1163" r="-899" b="-5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3865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" t="-201163" r="-200674" b="-4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0" t="-201163" r="-101126" b="-4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01163" r="-899" b="-4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4443525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" t="-297701" r="-200674" b="-298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0" t="-297701" r="-101126" b="-298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97701" r="-899" b="-298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1026701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" t="-402326" r="-200674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0" t="-402326" r="-101126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402326" r="-899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6691196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" t="-502326" r="-200674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0" t="-502326" r="-101126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502326" r="-899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309852"/>
                      </a:ext>
                    </a:extLst>
                  </a:tr>
                  <a:tr h="5238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總和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Σ</a:t>
                          </a:r>
                          <a:endParaRPr lang="zh-TW" altLang="en-US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7889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555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DD84-71CD-1357-1AE2-5FACC9CA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136DE-7040-4EA2-75F2-E44A22F9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29933982-E101-9BC6-40D1-BC57EE9A79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042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07270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37012875"/>
                    </a:ext>
                  </a:extLst>
                </a:gridCol>
              </a:tblGrid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廣告支出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銷售額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28205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6644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706289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918927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58506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52810"/>
                  </a:ext>
                </a:extLst>
              </a:tr>
            </a:tbl>
          </a:graphicData>
        </a:graphic>
      </p:graphicFrame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2FE6E5DE-E87E-3EC8-E3FA-F12ED344BC13}"/>
              </a:ext>
            </a:extLst>
          </p:cNvPr>
          <p:cNvGraphicFramePr>
            <a:graphicFrameLocks/>
          </p:cNvGraphicFramePr>
          <p:nvPr/>
        </p:nvGraphicFramePr>
        <p:xfrm>
          <a:off x="1976967" y="1690688"/>
          <a:ext cx="8238066" cy="49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551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CB8A-AB3B-6FEB-49DC-8E5B22CF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1795F-FD1E-5706-FB8C-B1C2B2F4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673E5A3A-CA93-3000-72CF-36E3A9E5E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假設存在一個神經元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初始化</a:t>
                </a:r>
                <a:r>
                  <a:rPr lang="en-US" altLang="zh-TW" dirty="0"/>
                  <a:t>w1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令</a:t>
                </a:r>
                <a:r>
                  <a:rPr lang="en-US" altLang="zh-TW" dirty="0"/>
                  <a:t>w1=1, b=1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673E5A3A-CA93-3000-72CF-36E3A9E5E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E24BD70-1FFF-1A2B-E3B6-5639BA84F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29156"/>
              </p:ext>
            </p:extLst>
          </p:nvPr>
        </p:nvGraphicFramePr>
        <p:xfrm>
          <a:off x="2032000" y="3492499"/>
          <a:ext cx="81280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010167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4176696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8029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3865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44352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267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9119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30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5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B0CB0-B107-42BF-100B-4F8FB079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152F50-2ADC-13FF-D666-8C18A477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</a:t>
            </a:r>
            <a:r>
              <a:rPr lang="en-US" altLang="zh-TW" dirty="0"/>
              <a:t>loss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D1A127-70F4-ABE3-CE6A-966D6E095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03584"/>
              </p:ext>
            </p:extLst>
          </p:nvPr>
        </p:nvGraphicFramePr>
        <p:xfrm>
          <a:off x="2032000" y="2429669"/>
          <a:ext cx="8127999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010167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417669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52923748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loss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8029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3865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44352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267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9119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30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8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A1A4-50F8-85C6-38BF-C45A036C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5B2B2F-EB3D-FB3D-A67D-8D994C77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B302BF-FB74-B678-BBAF-E0F52D768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更新權重</a:t>
                </a:r>
                <a:r>
                  <a:rPr lang="zh-TW" altLang="en-US" dirty="0"/>
                  <a:t>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𝑟𝑒𝑎𝑙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e>
                        </m:d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所以就是：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B302BF-FB74-B678-BBAF-E0F52D768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8F590D23-43E1-51C1-6B9B-6ED3B3081DF5}"/>
                  </a:ext>
                </a:extLst>
              </p:cNvPr>
              <p:cNvSpPr/>
              <p:nvPr/>
            </p:nvSpPr>
            <p:spPr>
              <a:xfrm>
                <a:off x="2899833" y="4160836"/>
                <a:ext cx="6392333" cy="1334030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⋅(−</m:t>
                    </m:r>
                    <m:r>
                      <m:rPr>
                        <m:sty m:val="p"/>
                      </m:rP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⋅2⋅</m:t>
                    </m:r>
                    <m:d>
                      <m:d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</a:rPr>
                  <a:t>！！！</a:t>
                </a:r>
              </a:p>
            </p:txBody>
          </p:sp>
        </mc:Choice>
        <mc:Fallback xmlns=""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8F590D23-43E1-51C1-6B9B-6ED3B3081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833" y="4160836"/>
                <a:ext cx="6392333" cy="133403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560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AC1D-AB71-7363-F0C9-C13DAC97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E206F-9F97-06C3-FEF6-2DAE22F6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內容版面配置區 5">
                <a:extLst>
                  <a:ext uri="{FF2B5EF4-FFF2-40B4-BE49-F238E27FC236}">
                    <a16:creationId xmlns:a16="http://schemas.microsoft.com/office/drawing/2014/main" id="{F0CB08CA-613F-4D3B-50B6-2284894E5C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98025674"/>
                  </p:ext>
                </p:extLst>
              </p:nvPr>
            </p:nvGraphicFramePr>
            <p:xfrm>
              <a:off x="838200" y="1825624"/>
              <a:ext cx="10515596" cy="3101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21608008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280266506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861899262"/>
                        </a:ext>
                      </a:extLst>
                    </a:gridCol>
                    <a:gridCol w="3657596">
                      <a:extLst>
                        <a:ext uri="{9D8B030D-6E8A-4147-A177-3AD203B41FA5}">
                          <a16:colId xmlns:a16="http://schemas.microsoft.com/office/drawing/2014/main" val="2717566516"/>
                        </a:ext>
                      </a:extLst>
                    </a:gridCol>
                  </a:tblGrid>
                  <a:tr h="51699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輸入值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預測值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loss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TW" altLang="en-US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altLang="zh-TW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⋅(−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TW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TW" sz="18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⋅2⋅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𝑟𝑒𝑎𝑙</m:t>
                                  </m:r>
                                  <m:r>
                                    <a:rPr lang="en-US" altLang="zh-TW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altLang="zh-TW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e>
                              </m:d>
                            </m:oMath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4906942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 – </a:t>
                          </a:r>
                          <a:r>
                            <a:rPr lang="en-US" altLang="zh-TW" dirty="0" err="1"/>
                            <a:t>lr</a:t>
                          </a:r>
                          <a:r>
                            <a:rPr lang="en-US" altLang="zh-TW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8055016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 – </a:t>
                          </a:r>
                          <a:r>
                            <a:rPr lang="en-US" altLang="zh-TW" dirty="0" err="1"/>
                            <a:t>lr</a:t>
                          </a:r>
                          <a:r>
                            <a:rPr lang="en-US" altLang="zh-TW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939597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1 – </a:t>
                          </a:r>
                          <a:r>
                            <a:rPr lang="en-US" altLang="zh-TW" dirty="0" err="1"/>
                            <a:t>lr</a:t>
                          </a:r>
                          <a:r>
                            <a:rPr lang="en-US" altLang="zh-TW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280794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1 – </a:t>
                          </a:r>
                          <a:r>
                            <a:rPr lang="en-US" altLang="zh-TW" dirty="0" err="1"/>
                            <a:t>lr</a:t>
                          </a:r>
                          <a:r>
                            <a:rPr lang="en-US" altLang="zh-TW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70252074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1 – </a:t>
                          </a:r>
                          <a:r>
                            <a:rPr lang="en-US" altLang="zh-TW" dirty="0" err="1"/>
                            <a:t>lr</a:t>
                          </a:r>
                          <a:r>
                            <a:rPr lang="en-US" altLang="zh-TW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d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8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a14:m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19412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內容版面配置區 5">
                <a:extLst>
                  <a:ext uri="{FF2B5EF4-FFF2-40B4-BE49-F238E27FC236}">
                    <a16:creationId xmlns:a16="http://schemas.microsoft.com/office/drawing/2014/main" id="{F0CB08CA-613F-4D3B-50B6-2284894E5C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98025674"/>
                  </p:ext>
                </p:extLst>
              </p:nvPr>
            </p:nvGraphicFramePr>
            <p:xfrm>
              <a:off x="838200" y="1825624"/>
              <a:ext cx="10515596" cy="3101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21608008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280266506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861899262"/>
                        </a:ext>
                      </a:extLst>
                    </a:gridCol>
                    <a:gridCol w="3657596">
                      <a:extLst>
                        <a:ext uri="{9D8B030D-6E8A-4147-A177-3AD203B41FA5}">
                          <a16:colId xmlns:a16="http://schemas.microsoft.com/office/drawing/2014/main" val="2717566516"/>
                        </a:ext>
                      </a:extLst>
                    </a:gridCol>
                  </a:tblGrid>
                  <a:tr h="51699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輸入值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預測值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loss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1176" r="-667" b="-5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4906942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101176" r="-667" b="-4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8055016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201176" r="-667" b="-3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939597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301176" r="-667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9280794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401176" r="-667" b="-1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252074"/>
                      </a:ext>
                    </a:extLst>
                  </a:tr>
                  <a:tr h="516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7833" t="-501176" r="-667" b="-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9412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6390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DDDC-8EF8-2921-553B-E62BEA52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81FD32-F6D3-392A-DE28-1208A800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多元線性回歸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644FE458-446C-1EAA-0735-8ABBD0CC4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243805"/>
              </p:ext>
            </p:extLst>
          </p:nvPr>
        </p:nvGraphicFramePr>
        <p:xfrm>
          <a:off x="838200" y="1825625"/>
          <a:ext cx="10515600" cy="405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607270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407472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37012875"/>
                    </a:ext>
                  </a:extLst>
                </a:gridCol>
              </a:tblGrid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身高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體重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328205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96644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706289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64.3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918927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112.5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585063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102.5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62.4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52810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84.5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59.3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374408"/>
                  </a:ext>
                </a:extLst>
              </a:tr>
              <a:tr h="507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89.0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644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74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830B-8C58-3932-D21A-7B9AEB9E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B8D33F-9E32-3216-9165-170F672B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多元線性回歸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1A638505-B9CC-E0B9-C567-76D27E9C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假設存在一個神經元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初始化</a:t>
                </a:r>
                <a:r>
                  <a:rPr lang="en-US" altLang="zh-TW" dirty="0"/>
                  <a:t>w1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w2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令</a:t>
                </a:r>
                <a:r>
                  <a:rPr lang="en-US" altLang="zh-TW" dirty="0"/>
                  <a:t>w1=1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 w2=1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 b=1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1A638505-B9CC-E0B9-C567-76D27E9C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85BBE2B-B061-9ABE-10D3-C5309E74D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504461"/>
              </p:ext>
            </p:extLst>
          </p:nvPr>
        </p:nvGraphicFramePr>
        <p:xfrm>
          <a:off x="2032000" y="3492499"/>
          <a:ext cx="8127999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010167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96913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4176696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輸入值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身高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輸入值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年齡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8029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97.0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3865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167.0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44352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105.0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267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112.5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127.5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9119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30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82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2648D-2064-ABA7-63FD-0AB2B353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FAAED-EDD4-CA35-B81C-E9473D9B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多元線性回歸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9890CCD-ACEA-1A2A-9CE4-4BE6B8C56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更新權重</a:t>
                </a:r>
                <a:r>
                  <a:rPr lang="zh-TW" altLang="en-US" dirty="0"/>
                  <a:t>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𝑟𝑒𝑎𝑙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e>
                        </m:d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所以就是：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9890CCD-ACEA-1A2A-9CE4-4BE6B8C56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EF7B30B3-815B-C19A-DFDB-20C7DE64D674}"/>
                  </a:ext>
                </a:extLst>
              </p:cNvPr>
              <p:cNvSpPr/>
              <p:nvPr/>
            </p:nvSpPr>
            <p:spPr>
              <a:xfrm>
                <a:off x="2899833" y="4160836"/>
                <a:ext cx="6650567" cy="1334030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⋅(</m:t>
                    </m:r>
                    <m:r>
                      <a:rPr lang="en-US" altLang="zh-TW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⋅2⋅</m:t>
                    </m:r>
                    <m:d>
                      <m:dPr>
                        <m:ctrlP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</a:rPr>
                  <a:t>！！！</a:t>
                </a:r>
              </a:p>
            </p:txBody>
          </p:sp>
        </mc:Choice>
        <mc:Fallback xmlns=""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EF7B30B3-815B-C19A-DFDB-20C7DE64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833" y="4160836"/>
                <a:ext cx="6650567" cy="133403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085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56F47A-5FDD-D2FD-1C18-88EA0C19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2-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多元線性回歸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8703C5-8462-E595-667A-480133FAA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⋅(−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600">
                        <a:latin typeface="Cambria Math" panose="02040503050406030204" pitchFamily="18" charset="0"/>
                      </a:rPr>
                      <m:t>⋅2⋅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endParaRPr lang="en-US" altLang="zh-TW" sz="3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⋅(−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600">
                        <a:latin typeface="Cambria Math" panose="02040503050406030204" pitchFamily="18" charset="0"/>
                      </a:rPr>
                      <m:t>⋅2⋅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endParaRPr lang="en-US" altLang="zh-TW" sz="3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⋅(−</m:t>
                    </m:r>
                    <m:sSub>
                      <m:sSub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3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600">
                        <a:latin typeface="Cambria Math" panose="02040503050406030204" pitchFamily="18" charset="0"/>
                      </a:rPr>
                      <m:t>⋅2⋅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</m:oMath>
                </a14:m>
                <a:endParaRPr lang="en-US" altLang="zh-TW" sz="3600" dirty="0"/>
              </a:p>
              <a:p>
                <a:r>
                  <a:rPr lang="en-US" altLang="zh-TW" dirty="0"/>
                  <a:t>…</a:t>
                </a:r>
              </a:p>
              <a:p>
                <a:r>
                  <a:rPr lang="zh-TW" altLang="en-US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我們可以簡寫成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38703C5-8462-E595-667A-480133FAA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09342BAB-6AA1-E031-F1F8-26D4FAD29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966" y="4785051"/>
            <a:ext cx="6460067" cy="87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95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 descr="一張含有 圖表, 寫生, 圓形, 設計 的圖片&#10;&#10;AI 產生的內容可能不正確。">
            <a:extLst>
              <a:ext uri="{FF2B5EF4-FFF2-40B4-BE49-F238E27FC236}">
                <a16:creationId xmlns:a16="http://schemas.microsoft.com/office/drawing/2014/main" id="{330FFED0-C7B2-421D-3ADC-23F2CCE93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134" y="560493"/>
            <a:ext cx="8195732" cy="573701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807</Words>
  <Application>Microsoft Office PowerPoint</Application>
  <PresentationFormat>寬螢幕</PresentationFormat>
  <Paragraphs>235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Microsoft JhengHei Light</vt:lpstr>
      <vt:lpstr>微軟正黑體</vt:lpstr>
      <vt:lpstr>Aptos</vt:lpstr>
      <vt:lpstr>Aptos Display</vt:lpstr>
      <vt:lpstr>Arial</vt:lpstr>
      <vt:lpstr>Cambria Math</vt:lpstr>
      <vt:lpstr>Office 佈景主題</vt:lpstr>
      <vt:lpstr>介紹神經網路</vt:lpstr>
      <vt:lpstr>PowerPoint 簡報</vt:lpstr>
      <vt:lpstr>算數學-1</vt:lpstr>
      <vt:lpstr>算數學-2</vt:lpstr>
      <vt:lpstr>範例1-線性回歸-最小平方法</vt:lpstr>
      <vt:lpstr>範例1-線性回歸-最小平方法</vt:lpstr>
      <vt:lpstr>範例1-線性回歸-最小平方法</vt:lpstr>
      <vt:lpstr>範例1-線性回歸-最小平方法</vt:lpstr>
      <vt:lpstr>範例1-線性回歸-神經網路</vt:lpstr>
      <vt:lpstr>範例1-線性回歸-神經網路</vt:lpstr>
      <vt:lpstr>範例1-線性回歸-神經網路</vt:lpstr>
      <vt:lpstr>範例1-線性回歸-神經網路</vt:lpstr>
      <vt:lpstr>範例1-線性回歸-神經網路</vt:lpstr>
      <vt:lpstr>範例2-多元線性回歸</vt:lpstr>
      <vt:lpstr>範例2-多元線性回歸</vt:lpstr>
      <vt:lpstr>範例2-多元線性回歸</vt:lpstr>
      <vt:lpstr>範例2-多元線性回歸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jonas.yen 顏嘉宏</dc:creator>
  <cp:lastModifiedBy>jonas.yen 顏嘉宏</cp:lastModifiedBy>
  <cp:revision>12</cp:revision>
  <dcterms:created xsi:type="dcterms:W3CDTF">2026-01-22T08:28:10Z</dcterms:created>
  <dcterms:modified xsi:type="dcterms:W3CDTF">2026-02-13T08:05:07Z</dcterms:modified>
</cp:coreProperties>
</file>